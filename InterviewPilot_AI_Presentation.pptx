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faculty. Today I present InterviewPilot AI, an autonomous, LLM-powered technical interview agent built to prepare engineering and MCA students for real technical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static question forms, this system operates on a closed-loop feedback architecture. It initiates an interview calibrated to the student's role, evaluates answers in real-time, and dynamically steers subsequent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evaluation engine scores answers across four dimensions: Technical Depth, Correctness, Communication, and Relevance. If a candidate scores 8 or above, difficulty escalates. If they score below 5, the agent dials back difficulty to probe core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Through session memory, the agent guarantees zero repetitive questions and isolates weak topic areas to challenge the student where they struggle most, complete with voice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with React, TypeScript, and Google Gemini on a secure serverless backend, it concludes by generating a hiring dossier with a 100-point benchmark and a targeted study roadmap.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05840"/>
            <a:ext cx="3840480" cy="411480"/>
          </a:xfrm>
          <a:prstGeom prst="roundRect">
            <a:avLst/>
          </a:prstGeom>
          <a:solidFill>
            <a:srgbClr val="1D264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AI-POWERED TECHNICAL INTERVIEW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INTERVIEWPILOT AI</a:t>
            </a:r>
          </a:p>
          <a:p>
            <a:pPr>
              <a:spcBef>
                <a:spcPts val="800"/>
              </a:spcBef>
              <a:defRPr sz="2000">
                <a:solidFill>
                  <a:srgbClr val="6366F1"/>
                </a:solidFill>
                <a:latin typeface="Segoe UI"/>
              </a:defRPr>
            </a:pPr>
            <a:r>
              <a:t>Autonomous, Adaptive Technical Interview Agent for College Placements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83280"/>
            <a:ext cx="5029200" cy="2651760"/>
          </a:xfrm>
          <a:prstGeom prst="roundRect">
            <a:avLst/>
          </a:prstGeom>
          <a:solidFill>
            <a:srgbClr val="131A2C"/>
          </a:solidFill>
          <a:ln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43F5E"/>
                </a:solidFill>
              </a:defRPr>
            </a:pPr>
            <a:r>
              <a:t>THE PROBLEM: Static Mock Tests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- Fixed Question Banks: Repeated, memorized questions with no variation.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- Zero Real-Time Adaptation: Difficulty stays identical regardless of performance.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- Superficial Scoring: Multiple-choice quizzes miss technical depth and reasoning.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- Generic Feedback: Students don't receive targeted diagnostic roadmaps.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5120640" cy="2651760"/>
          </a:xfrm>
          <a:prstGeom prst="roundRect">
            <a:avLst/>
          </a:prstGeom>
          <a:solidFill>
            <a:srgbClr val="131A2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THE SOLUTION: Autonomous Agentic Interviewer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- LLM-Powered Orchestration: Powered by Google Gemini 1.5 Flash.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- Dynamic Difficulty Adjustment: Automatically scales beginner to advanced.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- Multi-Dimensional Rubric: Evaluates depth, accuracy, structure, and clarity.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- Personalized Diagnostic Dossier: 100-pt benchmark &amp; 4-milestone study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Closed-Loop Feedback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468880" cy="411480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</a:defRPr>
            </a:pPr>
            <a:r>
              <a:t>01. SETUP &amp; CALIBRATION</a:t>
            </a:r>
          </a:p>
          <a:p>
            <a:pPr>
              <a:spcBef>
                <a:spcPts val="1600"/>
              </a:spcBef>
              <a:defRPr sz="1200">
                <a:solidFill>
                  <a:srgbClr val="E2E8F0"/>
                </a:solidFill>
              </a:defRPr>
            </a:pPr>
            <a:r>
              <a:t>Candidate specifies target role (e.g. SDE Fresher), level, and technical skills (Python, DSA, DBMS, OS).</a:t>
            </a:r>
          </a:p>
          <a:p>
            <a:pPr>
              <a:spcBef>
                <a:spcPts val="4000"/>
              </a:spcBef>
              <a:defRPr sz="1000">
                <a:solidFill>
                  <a:srgbClr val="94A3B8"/>
                </a:solidFill>
              </a:defRPr>
            </a:pPr>
            <a:r>
              <a:t>Phase 1 of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1296" y="1920240"/>
            <a:ext cx="2468880" cy="411480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366F1"/>
                </a:solidFill>
              </a:defRPr>
            </a:pPr>
            <a:r>
              <a:t>02. QUESTION GENERATION</a:t>
            </a:r>
          </a:p>
          <a:p>
            <a:pPr>
              <a:spcBef>
                <a:spcPts val="1600"/>
              </a:spcBef>
              <a:defRPr sz="1200">
                <a:solidFill>
                  <a:srgbClr val="E2E8F0"/>
                </a:solidFill>
              </a:defRPr>
            </a:pPr>
            <a:r>
              <a:t>Agent synthesizes a realistic, role-specific question aligned with current target difficulty.</a:t>
            </a:r>
          </a:p>
          <a:p>
            <a:pPr>
              <a:spcBef>
                <a:spcPts val="4000"/>
              </a:spcBef>
              <a:defRPr sz="1000">
                <a:solidFill>
                  <a:srgbClr val="94A3B8"/>
                </a:solidFill>
              </a:defRPr>
            </a:pPr>
            <a:r>
              <a:t>Phase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920240"/>
            <a:ext cx="2468880" cy="411480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8B5CF6"/>
                </a:solidFill>
              </a:defRPr>
            </a:pPr>
            <a:r>
              <a:t>03. REAL-TIME EVALUATION</a:t>
            </a:r>
          </a:p>
          <a:p>
            <a:pPr>
              <a:spcBef>
                <a:spcPts val="1600"/>
              </a:spcBef>
              <a:defRPr sz="1200">
                <a:solidFill>
                  <a:srgbClr val="E2E8F0"/>
                </a:solidFill>
              </a:defRPr>
            </a:pPr>
            <a:r>
              <a:t>LLM analyzes response against 4-pillar rubric, calculating score (0-10) and feedback.</a:t>
            </a:r>
          </a:p>
          <a:p>
            <a:pPr>
              <a:spcBef>
                <a:spcPts val="4000"/>
              </a:spcBef>
              <a:defRPr sz="1000">
                <a:solidFill>
                  <a:srgbClr val="94A3B8"/>
                </a:solidFill>
              </a:defRPr>
            </a:pPr>
            <a:r>
              <a:t>Phase 3 of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7968" y="1920240"/>
            <a:ext cx="2468880" cy="411480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04. ADAPTIVE STATE SHIFT</a:t>
            </a:r>
          </a:p>
          <a:p>
            <a:pPr>
              <a:spcBef>
                <a:spcPts val="1600"/>
              </a:spcBef>
              <a:defRPr sz="1200">
                <a:solidFill>
                  <a:srgbClr val="E2E8F0"/>
                </a:solidFill>
              </a:defRPr>
            </a:pPr>
            <a:r>
              <a:t>Dynamic Difficulty Engine escalates or de-escalates next question and flags weak concepts.</a:t>
            </a:r>
          </a:p>
          <a:p>
            <a:pPr>
              <a:spcBef>
                <a:spcPts val="4000"/>
              </a:spcBef>
              <a:defRPr sz="1000">
                <a:solidFill>
                  <a:srgbClr val="94A3B8"/>
                </a:solidFill>
              </a:defRPr>
            </a:pPr>
            <a:r>
              <a:t>Phase 4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EVALUATION &amp;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4-Pillar Rubric &amp; Dynamic Difficulty Adjustment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4297680"/>
          </a:xfrm>
          <a:prstGeom prst="roundRect">
            <a:avLst/>
          </a:prstGeom>
          <a:solidFill>
            <a:srgbClr val="131A2C"/>
          </a:solidFill>
          <a:ln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6366F1"/>
                </a:solidFill>
              </a:defRPr>
            </a:pPr>
            <a:r>
              <a:t>THE 4-PILLAR SCORING RUBRIC</a:t>
            </a:r>
          </a:p>
          <a:p>
            <a:pPr>
              <a:spcBef>
                <a:spcPts val="1000"/>
              </a:spcBef>
              <a:defRPr b="1" sz="1300">
                <a:solidFill>
                  <a:srgbClr val="FFFFFF"/>
                </a:solidFill>
              </a:defRPr>
            </a:pPr>
            <a:r>
              <a:t>1. Technical Depth (30%)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Evaluates understanding of runtime complexity, memory layout, system design, and edge cases.</a:t>
            </a:r>
          </a:p>
          <a:p>
            <a:pPr>
              <a:spcBef>
                <a:spcPts val="1000"/>
              </a:spcBef>
              <a:defRPr b="1" sz="1300">
                <a:solidFill>
                  <a:srgbClr val="FFFFFF"/>
                </a:solidFill>
              </a:defRPr>
            </a:pPr>
            <a:r>
              <a:t>2. Correctness &amp; Accuracy (30%)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Checks factual syntax, algorithm correctness, and proper computer science principles.</a:t>
            </a:r>
          </a:p>
          <a:p>
            <a:pPr>
              <a:spcBef>
                <a:spcPts val="1000"/>
              </a:spcBef>
              <a:defRPr b="1" sz="1300">
                <a:solidFill>
                  <a:srgbClr val="FFFFFF"/>
                </a:solidFill>
              </a:defRPr>
            </a:pPr>
            <a:r>
              <a:t>3. Communication &amp; Structure (20%)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Rewards structured articulation, logical steps, and clear reasoning.</a:t>
            </a:r>
          </a:p>
          <a:p>
            <a:pPr>
              <a:spcBef>
                <a:spcPts val="1000"/>
              </a:spcBef>
              <a:defRPr b="1" sz="1300">
                <a:solidFill>
                  <a:srgbClr val="FFFFFF"/>
                </a:solidFill>
              </a:defRPr>
            </a:pPr>
            <a:r>
              <a:t>4. Relevance &amp; Intent (20%)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Ensures the candidate directly answers the question without dodging key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31A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DYNAMIC DIFFICULTY ADJUSTMENT (DDA)</a:t>
            </a:r>
          </a:p>
          <a:p>
            <a:pPr>
              <a:spcBef>
                <a:spcPts val="1400"/>
              </a:spcBef>
              <a:defRPr b="1" sz="1300">
                <a:solidFill>
                  <a:srgbClr val="10B981"/>
                </a:solidFill>
              </a:defRPr>
            </a:pPr>
            <a:r>
              <a:t>Score &gt;= 8.0 / 10 -&gt; ESCALATE DIFFICULTY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Beginner -&gt; Intermediate -&gt; Advanced. Probes complex edge cases, concurrency, and trade-offs.</a:t>
            </a:r>
          </a:p>
          <a:p>
            <a:pPr>
              <a:spcBef>
                <a:spcPts val="1400"/>
              </a:spcBef>
              <a:defRPr b="1" sz="1300">
                <a:solidFill>
                  <a:srgbClr val="06B6D4"/>
                </a:solidFill>
              </a:defRPr>
            </a:pPr>
            <a:r>
              <a:t>Score 5.0 - 7.9 / 10 -&gt; MAINTAIN TIER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Keeps current difficulty to verify domain consistency and stability across diverse topics.</a:t>
            </a:r>
          </a:p>
          <a:p>
            <a:pPr>
              <a:spcBef>
                <a:spcPts val="1400"/>
              </a:spcBef>
              <a:defRPr b="1" sz="1300">
                <a:solidFill>
                  <a:srgbClr val="FB923C"/>
                </a:solidFill>
              </a:defRPr>
            </a:pPr>
            <a:r>
              <a:t>Score &lt; 5.0 / 10 -&gt; DE-ESCALATE &amp; DIAGNOSE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Reduces complexity to core fundamentals; flags concept as a 'Weak Skill' for targeted follow-ups.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INTELLIGENT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Context Memory, Zero Repeats &amp; Weak-Spot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1234440"/>
          </a:xfrm>
          <a:prstGeom prst="roundRect">
            <a:avLst/>
          </a:prstGeom>
          <a:solidFill>
            <a:srgbClr val="131A2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6366F1"/>
                </a:solidFill>
              </a:defRPr>
            </a:pPr>
            <a:r>
              <a:t>ZERO REPETITION GUARANTEE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Session history stores asked questions and specific subtopics. The prompt engine strictly bans duplicate topics, guaranteeing broad placement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10515600" cy="1234440"/>
          </a:xfrm>
          <a:prstGeom prst="roundRect">
            <a:avLst/>
          </a:prstGeom>
          <a:solidFill>
            <a:srgbClr val="131A2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WEAK SPOT ISOLATION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When a low score is detected in a skill (e.g. SQL indexing or Dynamic Programming), the agent actively steers upcoming turns back to that weak domain to reinforce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10515600" cy="1234440"/>
          </a:xfrm>
          <a:prstGeom prst="roundRect">
            <a:avLst/>
          </a:prstGeom>
          <a:solidFill>
            <a:srgbClr val="131A2C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8B5CF6"/>
                </a:solidFill>
              </a:defRPr>
            </a:pPr>
            <a:r>
              <a:t>VOICE-FIRST MULTI-MODAL INTERACTION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Equipped with real-time Speech Synthesis (TTS) for conversational AI voice narration and Web Speech Recognition for hands-free verbal answering.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SYSTEM &amp;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Production Stack &amp; The Final Hiring Dossier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4297680"/>
          </a:xfrm>
          <a:prstGeom prst="roundRect">
            <a:avLst/>
          </a:prstGeom>
          <a:solidFill>
            <a:srgbClr val="131A2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6366F1"/>
                </a:solidFill>
              </a:defRPr>
            </a:pPr>
            <a:r>
              <a:t>FULL-STACK PRODUCTION ARCHITECTURE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- Frontend Application: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  React 18, TypeScript, Tailwind CSS, Lucide icons, Vite 6 build system.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- AI Intelligence Engine: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  Google Gemini 1.5 Flash structured JSON model.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- Resilient Fallback Engine: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  Autonomous offline heuristics for 100% test uptime with zero downtime.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- Serverless Cloud Deployment: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  Vercel Serverless Functions with zero client-side API key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31A2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ACTIONABLE HIRING REPORT DELIVERABLES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- 100-Point Score &amp; Recommendation: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  Strong Hire (&gt;=85), Hire (&gt;=70), Borderline (&gt;=50), Needs Improvement.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- Multi-Metric Breakdown: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  Separates Technical Depth, Communication, and Problem-Solving scores.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- Question-Level Audit: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  Displays every answer, evaluation breakdown, strengths, and missed points.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- 4-Milestone Study Roadmap: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  High &amp; Medium priority technical revision plan tailored to candidate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